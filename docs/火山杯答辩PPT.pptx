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118</c:v>
                </c:pt>
                <c:pt idx="2">
                  <c:v>137</c:v>
                </c:pt>
                <c:pt idx="3">
                  <c:v>153.4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24456B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3840480"/>
            <a:ext cx="3200400" cy="3200400"/>
          </a:xfrm>
          <a:prstGeom prst="ellipse">
            <a:avLst/>
          </a:prstGeom>
          <a:solidFill>
            <a:srgbClr val="1B345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57276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火山杯 Agent 创新大赛 · 参赛作品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更会教，而不只是更聪明 —— 一个覆盖拼音、英语口语与多语种的 AI 语言教练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5029200"/>
            <a:ext cx="2048256" cy="457200"/>
          </a:xfrm>
          <a:prstGeom prst="roundRect">
            <a:avLst>
              <a:gd name="adj" fmla="val 20000"/>
            </a:avLst>
          </a:prstGeom>
          <a:solidFill>
            <a:srgbClr val="284E7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02920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三层提示词架构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99816" y="5029200"/>
            <a:ext cx="1810512" cy="457200"/>
          </a:xfrm>
          <a:prstGeom prst="roundRect">
            <a:avLst>
              <a:gd name="adj" fmla="val 20000"/>
            </a:avLst>
          </a:prstGeom>
          <a:solidFill>
            <a:srgbClr val="284E78"/>
          </a:solidFill>
          <a:ln/>
        </p:spPr>
      </p:sp>
      <p:sp>
        <p:nvSpPr>
          <p:cNvPr id="14" name="Text 11"/>
          <p:cNvSpPr/>
          <p:nvPr/>
        </p:nvSpPr>
        <p:spPr>
          <a:xfrm>
            <a:off x="3099816" y="50292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独立记忆分区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38928" y="5029200"/>
            <a:ext cx="1810512" cy="457200"/>
          </a:xfrm>
          <a:prstGeom prst="roundRect">
            <a:avLst>
              <a:gd name="adj" fmla="val 20000"/>
            </a:avLst>
          </a:prstGeom>
          <a:solidFill>
            <a:srgbClr val="284E78"/>
          </a:solidFill>
          <a:ln/>
        </p:spPr>
      </p:sp>
      <p:sp>
        <p:nvSpPr>
          <p:cNvPr id="16" name="Text 13"/>
          <p:cNvSpPr/>
          <p:nvPr/>
        </p:nvSpPr>
        <p:spPr>
          <a:xfrm>
            <a:off x="5138928" y="50292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防模板化引擎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78040" y="5029200"/>
            <a:ext cx="2523744" cy="457200"/>
          </a:xfrm>
          <a:prstGeom prst="roundRect">
            <a:avLst>
              <a:gd name="adj" fmla="val 20000"/>
            </a:avLst>
          </a:prstGeom>
          <a:solidFill>
            <a:srgbClr val="284E78"/>
          </a:solidFill>
          <a:ln/>
        </p:spPr>
      </p:sp>
      <p:sp>
        <p:nvSpPr>
          <p:cNvPr id="18" name="Text 15"/>
          <p:cNvSpPr/>
          <p:nvPr/>
        </p:nvSpPr>
        <p:spPr>
          <a:xfrm>
            <a:off x="7178040" y="50292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平台落地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汇报人：参赛团队　|　基于火山引擎扣子（Coze）平台　|　2026.07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554480"/>
            <a:ext cx="91440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983480" y="17830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9019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1755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行业痛点与机遇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874520" y="22677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App 有体系无智能，通用大模型有智能无体系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554480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554480"/>
            <a:ext cx="91440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3"/>
          <p:cNvSpPr/>
          <p:nvPr/>
        </p:nvSpPr>
        <p:spPr>
          <a:xfrm>
            <a:off x="653796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10652760" y="17830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19019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43800" y="1755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543800" y="22677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三大教学板块 + 全龄段自适应的 AI 语言教练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154680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154680"/>
            <a:ext cx="91440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19"/>
          <p:cNvSpPr/>
          <p:nvPr/>
        </p:nvSpPr>
        <p:spPr>
          <a:xfrm>
            <a:off x="86868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0"/>
          <p:cNvSpPr/>
          <p:nvPr/>
        </p:nvSpPr>
        <p:spPr>
          <a:xfrm>
            <a:off x="4983480" y="33832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502152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874520" y="33558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1874520" y="38679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 / 知识锚定 / 决策 / 表达 四层架构（Coze 落地）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09360" y="3154680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309360" y="3154680"/>
            <a:ext cx="91440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5"/>
          <p:cNvSpPr/>
          <p:nvPr/>
        </p:nvSpPr>
        <p:spPr>
          <a:xfrm>
            <a:off x="653796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200" dirty="0"/>
          </a:p>
        </p:txBody>
      </p:sp>
      <p:sp>
        <p:nvSpPr>
          <p:cNvPr id="32" name="Shape 26"/>
          <p:cNvSpPr/>
          <p:nvPr/>
        </p:nvSpPr>
        <p:spPr>
          <a:xfrm>
            <a:off x="10652760" y="33832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632" y="3502152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543800" y="33558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7543800" y="38679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记忆分区、防模板化、SVM 校验、四层护栏、七维评估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40080" y="4754880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40080" y="4754880"/>
            <a:ext cx="91440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1"/>
          <p:cNvSpPr/>
          <p:nvPr/>
        </p:nvSpPr>
        <p:spPr>
          <a:xfrm>
            <a:off x="86868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200" dirty="0"/>
          </a:p>
        </p:txBody>
      </p:sp>
      <p:sp>
        <p:nvSpPr>
          <p:cNvPr id="39" name="Shape 32"/>
          <p:cNvSpPr/>
          <p:nvPr/>
        </p:nvSpPr>
        <p:spPr>
          <a:xfrm>
            <a:off x="4983480" y="49834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5102352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874520" y="4956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平台落地与优势</a:t>
            </a:r>
            <a:endParaRPr lang="en-US" sz="1700" dirty="0"/>
          </a:p>
        </p:txBody>
      </p:sp>
      <p:sp>
        <p:nvSpPr>
          <p:cNvPr id="42" name="Text 34"/>
          <p:cNvSpPr/>
          <p:nvPr/>
        </p:nvSpPr>
        <p:spPr>
          <a:xfrm>
            <a:off x="1874520" y="54681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配置映射 · 六大核心优势 · 市场前景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309360" y="4754880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309360" y="4754880"/>
            <a:ext cx="91440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5" name="Text 37"/>
          <p:cNvSpPr/>
          <p:nvPr/>
        </p:nvSpPr>
        <p:spPr>
          <a:xfrm>
            <a:off x="653796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200" dirty="0"/>
          </a:p>
        </p:txBody>
      </p:sp>
      <p:sp>
        <p:nvSpPr>
          <p:cNvPr id="46" name="Shape 38"/>
          <p:cNvSpPr/>
          <p:nvPr/>
        </p:nvSpPr>
        <p:spPr>
          <a:xfrm>
            <a:off x="10652760" y="49834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1632" y="5102352"/>
            <a:ext cx="365760" cy="36576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543800" y="4956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演示与总结</a:t>
            </a:r>
            <a:endParaRPr lang="en-US" sz="1700" dirty="0"/>
          </a:p>
        </p:txBody>
      </p:sp>
      <p:sp>
        <p:nvSpPr>
          <p:cNvPr id="49" name="Text 40"/>
          <p:cNvSpPr/>
          <p:nvPr/>
        </p:nvSpPr>
        <p:spPr>
          <a:xfrm>
            <a:off x="7543800" y="54681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分钟演示故事线 · 总结展望</a:t>
            </a:r>
            <a:endParaRPr lang="en-US" sz="1150" dirty="0"/>
          </a:p>
        </p:txBody>
      </p:sp>
      <p:sp>
        <p:nvSpPr>
          <p:cNvPr id="50" name="Shape 4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行业痛点与机遇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为什么是现在？为什么是我们？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0876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508760"/>
            <a:ext cx="539496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5087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现有产品的两大断层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22402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传统语言 App：有体系、无智能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固定课纲、机械跟读，无法理解“你哪里卡住了”。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通用大模型：有智能、无体系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能对话，却记不住学习进度、不会因材施教、不锚定知识。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方言 / 银发 / 儿童：普遍缺位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平翘舌、前后鼻音矫正、大字慢速引导和趣味化几乎空白。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508760"/>
            <a:ext cx="5303520" cy="466344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1691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窗口期已经打开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331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153.4 亿元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68680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中国在线语言学习预计市场规模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9224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−7%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686800" y="3566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头部产品日活下滑，用户渴望更“会教”的体验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92240" y="4800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686800" y="4800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真正覆盖全龄段 + 方言矫正的直接竞品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AI 语言教练，而非又一个聊天机器人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3520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600200"/>
            <a:ext cx="3520440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18013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9110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6002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中文拼音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960120" y="26060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零基础声母韵母认读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平翘舌 / 前后鼻音矫正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方言口音专项训练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480560" y="1600200"/>
            <a:ext cx="3520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80560" y="1600200"/>
            <a:ext cx="3520440" cy="8686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Shape 12"/>
          <p:cNvSpPr/>
          <p:nvPr/>
        </p:nvSpPr>
        <p:spPr>
          <a:xfrm>
            <a:off x="4754880" y="18013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91109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16002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英语口语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800600" y="26060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场景对话：餐厅 / 机场 / 职场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发音实时纠错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开口说优先于语法讲解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321040" y="1600200"/>
            <a:ext cx="3520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21040" y="1600200"/>
            <a:ext cx="3520440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Shape 17"/>
          <p:cNvSpPr/>
          <p:nvPr/>
        </p:nvSpPr>
        <p:spPr>
          <a:xfrm>
            <a:off x="8595360" y="18013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191109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35440" y="16002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多语种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8641080" y="26060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 / 韩 / 法 / 西自由切换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各语种进度独立保存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A1–B1 阶梯教材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40080" y="4892040"/>
            <a:ext cx="10927080" cy="123444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7" name="Shape 21"/>
          <p:cNvSpPr/>
          <p:nvPr/>
        </p:nvSpPr>
        <p:spPr>
          <a:xfrm>
            <a:off x="640080" y="4892040"/>
            <a:ext cx="91440" cy="1234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4983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全龄段自适应：同一套引擎，五类人群差异化对待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68680" y="5440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儿童（降速 + 趣味引导） · 青少年（效率 + 应试衔接） · 成人（场景化速成） · 银发用户（大字 + 慢速重复） · 方言用户（口音专项矫正）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技术架构：把不确定性封装进确定性流程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 / 知识锚定 / 决策 / 表达 四层 · 落地于 Coze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10927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554480"/>
            <a:ext cx="2377440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5544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意图识别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0" y="15544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识别年龄 / 基础 / 口音与板块意图，强制分流到三大教学分支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256032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770632"/>
            <a:ext cx="10927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770632"/>
            <a:ext cx="2377440" cy="10515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770632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知识锚定（RAG）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200400" y="2770632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拼音库 / 英语场景库 / 多语种教材 经向量检索注入，杜绝幻觉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3776472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3986784"/>
            <a:ext cx="10927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986784"/>
            <a:ext cx="2377440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3986784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决策引擎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200400" y="3986784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记忆分区 + 薄弱点复习 + 阈值控制，确定性地决定“下一步教什么”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43600" y="4992624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202936"/>
            <a:ext cx="10927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0080" y="5202936"/>
            <a:ext cx="2377440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202936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表达层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200400" y="5202936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适老化话术 + 防模板化变量池，每次回复自然且因人而异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598932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落地：人设与回复逻辑 = L1+L4；知识库 = L2；工作流 + 数据库 = L3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生产级核心能力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让“会教”稳定、可控、可追溯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1874520"/>
            <a:ext cx="822960" cy="8229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0756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1874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独立记忆分区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965960" y="2468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按语种 / 板块存薄弱点，跨天自动复习；区别于通用大模型的关键差异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55080" y="155448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75120" y="187452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0756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80960" y="1874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六层防模板化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680960" y="2468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动态提示词 + 语义排斥 + 多候选去重，避免每次对话千篇一律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02336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0120" y="4343400"/>
            <a:ext cx="822960" cy="8229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5445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65960" y="4343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 混合校验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965960" y="49377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方言分类 / 发音检测 / 质量筛查三模型，8ms 轻量前置过滤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355080" y="4023360"/>
            <a:ext cx="53949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675120" y="434340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4544568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80960" y="4343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七维度评估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7680960" y="49377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 / 效率 / 安全 / 公平 / 可解释 / 锚定 / 合规，量化验收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全龄段自适应：一套引擎，五类人群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识别用户画像，差异化教学策略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600200"/>
            <a:ext cx="2194560" cy="8412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0020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17520" y="160020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降速 + 趣味引导 + 游戏化奖励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5117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551176"/>
            <a:ext cx="2194560" cy="8412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551176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青少年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017520" y="2551176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效率优先 + 应试衔接 + 短平快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350215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502152"/>
            <a:ext cx="2194560" cy="8412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502152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017520" y="3502152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场景化速成 + 碎片时间利用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45312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4453128"/>
            <a:ext cx="2194560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453128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银发用户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017520" y="4453128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大字界面 + 慢速重复 + 语音播报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40080" y="540410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5404104"/>
            <a:ext cx="219456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540410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方言用户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017520" y="5404104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平翘舌 / 前后鼻音专项矫正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长期记忆分区与薄弱点复习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记住“你学到哪、哪里总错、该复习什么”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记忆分区结构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2286000"/>
            <a:ext cx="5029200" cy="8686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2286000"/>
            <a:ext cx="82296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pinyin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724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拼音：声韵掌握度 / 方言错误点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3337560"/>
            <a:ext cx="5029200" cy="8686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3337560"/>
            <a:ext cx="82296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english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37764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英语：场景熟练度 / 发音弱点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8680" y="4389120"/>
            <a:ext cx="5029200" cy="8686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Shape 16"/>
          <p:cNvSpPr/>
          <p:nvPr/>
        </p:nvSpPr>
        <p:spPr>
          <a:xfrm>
            <a:off x="868680" y="4389120"/>
            <a:ext cx="82296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4828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多语种：每语种独立进度与薄弱点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355080" y="1554480"/>
            <a:ext cx="5212080" cy="457200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跨天复习闭环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583680" y="233172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78040" y="2286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对话中识别薄弱点 → 写入分区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583680" y="32918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178040" y="3246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按遗忘曲线生成次日复习任务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583680" y="42519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178040" y="4206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复习命中率反馈 → 动态调整权重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583680" y="521208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4" name="Text 31"/>
          <p:cNvSpPr/>
          <p:nvPr/>
        </p:nvSpPr>
        <p:spPr>
          <a:xfrm>
            <a:off x="658368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178040" y="5166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长期形成个人专属学习画像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四层护栏与阈值控制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让生产级智能体安全、可控、可观测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645920"/>
            <a:ext cx="260604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645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输入验证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2423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 / 板块合法性校验，过滤越界请求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16459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645920"/>
            <a:ext cx="260604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1645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输出过滤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657600" y="2423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敏感词 / 不当内容拦截，内容合规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6459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645920"/>
            <a:ext cx="26060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1645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行为策略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92240" y="2423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异常分类与恢复（误入 / 权限 / 网络等）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0" y="16459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144000" y="1645920"/>
            <a:ext cx="26060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9235440" y="1645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运行时可观测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326880" y="2423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 + 指标追踪，P95 延迟 &lt; 5s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4572000"/>
            <a:ext cx="10927080" cy="146304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六大阈值控制环节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68680" y="512064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5120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意图置信度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633472" y="512064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33472" y="5120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发音异常分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98264" y="512064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98264" y="5120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163056" y="512064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120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重复度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927848" y="512064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27848" y="5120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置信度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9692640" y="512064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0" y="5120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安全护栏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基于火山引擎扣子（Coze）落地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本地生产级设计 → Coze 平台配置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537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本地生产级组件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Coze 平台等价实现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三层提示词 + 分支路由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Bot「人设与回复逻辑」+ 工作流条件分支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Chroma 向量库 / RAG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Coze 知识库（拼音 / 英语 / 多语种）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记忆分区 JSON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Coze 数据库（数据表：按语种 / 板块）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SVM 校验 / 阈值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工作流代码节点做前置过滤与评分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Edge-TTS 语音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Coze 语音合成插件 / 数字人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七维度评估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评测集 + 运行日志监控面板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594360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注：Coze 平台已内置知识库、工作流、数据库与语音能力，无需自建 Chroma / SVM 服务即可达到同等教学设计。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六大核心优势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差异化竞争力一览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5760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1051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64592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全龄段覆盖（儿童到银发）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2395728"/>
            <a:ext cx="5760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39572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方言口音专项矫正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3145536"/>
            <a:ext cx="5760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10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14553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独立记忆分区与复习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3895344"/>
            <a:ext cx="5760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59936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89534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防模板化自然交互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40080" y="4645152"/>
            <a:ext cx="5760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09744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34440" y="464515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知识锚定防幻觉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40080" y="5394960"/>
            <a:ext cx="5760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559552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34440" y="539496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低门槛可演示（Coze 落地）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45920"/>
          <a:ext cx="49834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本产品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通用大模型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记忆学习进度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分区持久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易失忆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方言矫正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专项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不擅长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防模板化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六层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雷同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适老化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大字慢速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1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市场前景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需求真实、规模可观、窗口期明确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6400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1737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在线语言学习市场规模（亿元）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77240" y="2240280"/>
          <a:ext cx="6035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269480" y="173736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269480" y="1737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0" y="18470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需求侧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98080" y="22128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终身学习 + 老龄化 + 出海，三重驱动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269480" y="283464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69480" y="283464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3"/>
          <p:cNvSpPr/>
          <p:nvPr/>
        </p:nvSpPr>
        <p:spPr>
          <a:xfrm>
            <a:off x="7498080" y="2944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供给侧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498080" y="33101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通用大模型不会教，留下专业空白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269480" y="393192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269480" y="393192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7"/>
          <p:cNvSpPr/>
          <p:nvPr/>
        </p:nvSpPr>
        <p:spPr>
          <a:xfrm>
            <a:off x="7498080" y="4041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498080" y="44074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多邻国日活下滑，用户寻更好体验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269480" y="502920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269480" y="502920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1"/>
          <p:cNvSpPr/>
          <p:nvPr/>
        </p:nvSpPr>
        <p:spPr>
          <a:xfrm>
            <a:off x="7498080" y="5138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498080" y="55046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记忆分区 + 方言矫正 + 防模板化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560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分钟演示故事线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7132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D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让评委亲眼看见“更会教”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600200"/>
            <a:ext cx="210312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002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0:00–0:30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26080" y="167335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开场：一句话讲清痛点与定位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926080" y="2057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展示全龄段 + 三板块的整体能力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2532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532888"/>
            <a:ext cx="210312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53288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0:30–1:10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26080" y="2606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拼音板块：平翘舌矫正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926080" y="29900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输入“我有平翘舌问题”，展示识别 + 薄弱点写入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346557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3465576"/>
            <a:ext cx="210312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46557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1:10–1:50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926080" y="35387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英语板块：餐厅场景对话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926080" y="392277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展示场景卡检索 + 发音纠错 + 开口说引导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3982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4398264"/>
            <a:ext cx="210312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398264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1:50–2:30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926080" y="447141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多语种：切换日语并独立存进度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926080" y="485546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展示语种分支 + 记忆分区互不干扰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" y="533095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5330952"/>
            <a:ext cx="210312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5330952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2:30–3:00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926080" y="540410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记忆与复习：跨天薄弱点复习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926080" y="5788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展示次日复习任务自动生成，呼应“更会教”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全龄段多语言学习智能体 · 2026 火山杯 Agent 创新大赛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91672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114800"/>
            <a:ext cx="4114800" cy="4114800"/>
          </a:xfrm>
          <a:prstGeom prst="ellipse">
            <a:avLst/>
          </a:prstGeom>
          <a:solidFill>
            <a:srgbClr val="24456B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914400"/>
            <a:ext cx="3474720" cy="3474720"/>
          </a:xfrm>
          <a:prstGeom prst="ellipse">
            <a:avLst/>
          </a:prstGeom>
          <a:solidFill>
            <a:srgbClr val="1B34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68680" y="1645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LLM 的不确定性，封装进确定性的教学设计。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468880"/>
            <a:ext cx="10424160" cy="658368"/>
          </a:xfrm>
          <a:prstGeom prst="rect">
            <a:avLst/>
          </a:prstGeom>
          <a:solidFill>
            <a:srgbClr val="284E7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5176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6888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产品：覆盖拼音 / 英语口语 / 多语种的 AI 语言教练，全龄段自适应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3273552"/>
            <a:ext cx="10424160" cy="658368"/>
          </a:xfrm>
          <a:prstGeom prst="rect">
            <a:avLst/>
          </a:prstGeom>
          <a:solidFill>
            <a:srgbClr val="284E7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5643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27355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技术：四层架构 + 记忆分区 + 防模板化 + SVM 校验 + 四层护栏 + 七维评估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68680" y="4078224"/>
            <a:ext cx="10424160" cy="658368"/>
          </a:xfrm>
          <a:prstGeom prst="rect">
            <a:avLst/>
          </a:prstGeom>
          <a:solidFill>
            <a:srgbClr val="284E7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61104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078224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落地：基于火山引擎扣子（Coze）平台，知识库 + 工作流 + 数据库 + 语音一体化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68680" y="4882896"/>
            <a:ext cx="10424160" cy="658368"/>
          </a:xfrm>
          <a:prstGeom prst="rect">
            <a:avLst/>
          </a:prstGeom>
          <a:solidFill>
            <a:srgbClr val="284E7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06577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88289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价值：更会教而非更聪明，填补方言矫正与银发学习的市场空白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感谢评委 · 全龄段多语言学习智能体团队 · 2026 火山杯 Agent 创新大赛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全龄段多语言学习智能体 · 火山杯参赛答辩</dc:title>
  <dc:subject>PptxGenJS Presentation</dc:subject>
  <dc:creator>全龄段多语言学习智能体团队</dc:creator>
  <cp:lastModifiedBy>全龄段多语言学习智能体团队</cp:lastModifiedBy>
  <cp:revision>1</cp:revision>
  <dcterms:created xsi:type="dcterms:W3CDTF">2026-07-28T06:20:29Z</dcterms:created>
  <dcterms:modified xsi:type="dcterms:W3CDTF">2026-07-28T06:20:29Z</dcterms:modified>
</cp:coreProperties>
</file>